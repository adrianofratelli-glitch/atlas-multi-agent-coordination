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e11a8c79b64edd" /><Relationship Type="http://schemas.openxmlformats.org/officeDocument/2006/relationships/extended-properties" Target="/docProps/app.xml" Id="R50dd5cf2a31c420b" /><Relationship Type="http://schemas.openxmlformats.org/officeDocument/2006/relationships/officeDocument" Target="/ppt/presentation.xml" Id="R1c02ab48676145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5e3b2f1164ad9"/>
  </p:sldMasterIdLst>
  <p:notesMasterIdLst>
    <p:notesMasterId xmlns:r="http://schemas.openxmlformats.org/officeDocument/2006/relationships" r:id="R60c64680731c4445"/>
  </p:notesMasterIdLst>
  <p:sldIdLst>
    <p:sldId xmlns:r="http://schemas.openxmlformats.org/officeDocument/2006/relationships" id="256" r:id="Rc300a2faf33145f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b762b1ea9c4342" /><Relationship Type="http://schemas.openxmlformats.org/officeDocument/2006/relationships/slideMaster" Target="/ppt/slideMasters/slideMaster1.xml" Id="R5be5e3b2f1164ad9" /><Relationship Type="http://schemas.openxmlformats.org/officeDocument/2006/relationships/notesMaster" Target="/ppt/notesMasters/notesMaster1.xml" Id="R60c64680731c4445" /><Relationship Type="http://schemas.openxmlformats.org/officeDocument/2006/relationships/presProps" Target="/ppt/presProps.xml" Id="R30e0c66cfab54327" /><Relationship Type="http://schemas.openxmlformats.org/officeDocument/2006/relationships/tableStyles" Target="/ppt/tableStyles.xml" Id="Rfc2472ffec04432a" /><Relationship Type="http://schemas.openxmlformats.org/officeDocument/2006/relationships/slide" Target="/ppt/slides/slide1.xml" Id="Rc300a2faf33145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66f231b84142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910f475e40447e" /><Relationship Type="http://schemas.openxmlformats.org/officeDocument/2006/relationships/notesMaster" Target="/ppt/notesMasters/notesMaster1.xml" Id="Rf97c1cfa287041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 do apresentador: customer_memory já recebe fatos extraídos e aplica supersessão. long_term_memory tem índice voyage-4 e é consultada como contexto, mas o código atual não implementa uma rotina automática de consolidação/ingestão para preenchê-la.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c7c1bf6d440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1c4cd8b5994f3e" /><Relationship Type="http://schemas.openxmlformats.org/officeDocument/2006/relationships/slideLayout" Target="/ppt/slideLayouts/slideLayout1.xml" Id="Rc8e0968d706b42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e0968d706b42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4273e7cde40ff" /><Relationship Type="http://schemas.openxmlformats.org/officeDocument/2006/relationships/notesSlide" Target="/ppt/notesSlides/notesSlide1.xml" Id="R3e32c20458d949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footer">
            <a:extLst xmlns:a="http://schemas.openxmlformats.org/drawingml/2006/main">
              <a:ext uri="{FF2B5EF4-FFF2-40B4-BE49-F238E27FC236}">
                <a16:creationId xmlns:a16="http://schemas.microsoft.com/office/drawing/2014/main" id="{9EECF0BF-68EF-4DCD-8B51-82E8933A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91700"/>
            <a:ext cx="1828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E2A"/>
          </a:solidFill>
          <a:ln xmlns:a="http://schemas.openxmlformats.org/drawingml/2006/main" w="0">
            <a:solidFill>
              <a:srgbClr val="062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42F3E-2A16-4976-BA2E-C9524375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5821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44CBC-2333-4ACF-BB07-DF01DCFF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684A"/>
                </a:solidFill>
              </a:defRPr>
            </a:pPr>
            <a:r>
              <a:rPr sz="2550" b="1" i="0">
                <a:solidFill>
                  <a:srgbClr val="00684A"/>
                </a:solidFill>
              </a:rPr>
              <a:t>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A6843-87BA-4677-8712-5EAB3D25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62E2A"/>
                </a:solidFill>
              </a:defRPr>
            </a:pPr>
            <a:r>
              <a:rPr sz="2550" b="1" i="0">
                <a:solidFill>
                  <a:srgbClr val="062E2A"/>
                </a:solidFill>
              </a:rPr>
              <a:t>MongoDB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3A7A5E-04E0-4468-A018-74003F9F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"/>
            <a:ext cx="1219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 i="0">
                <a:solidFill>
                  <a:srgbClr val="062E2A"/>
                </a:solidFill>
              </a:defRPr>
            </a:pPr>
            <a:r>
              <a:rPr sz="3900" b="1" i="0">
                <a:solidFill>
                  <a:srgbClr val="062E2A"/>
                </a:solidFill>
              </a:rPr>
              <a:t>Memória e Coordenação na PoV Multi‑Agente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AD01B-896B-4A56-A3A6-92E09846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667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64777D"/>
                </a:solidFill>
              </a:defRPr>
            </a:pPr>
            <a:r>
              <a:rPr sz="1875" b="0" i="0">
                <a:solidFill>
                  <a:srgbClr val="64777D"/>
                </a:solidFill>
              </a:rPr>
              <a:t>Contexto certo, no agente certo, no momento certo — persistido e recuperável por significado.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078BD-28AA-4FFC-A310-9D52E38A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171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49244-E42D-4429-A588-BC8AF75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3714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PoV</a:t>
            </a:r>
          </a:p>
        </p:txBody>
      </p:sp>
      <p:sp>
        <p:nvSpPr>
          <p:cNvPr id="9" name="challenge-card">
            <a:extLst xmlns:a="http://schemas.openxmlformats.org/drawingml/2006/main">
              <a:ext uri="{FF2B5EF4-FFF2-40B4-BE49-F238E27FC236}">
                <a16:creationId xmlns:a16="http://schemas.microsoft.com/office/drawing/2014/main" id="{25475721-9F53-4CA2-933D-BBF67B47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4286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26507-BE3D-40E8-ADE5-158B3FEE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764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0684A"/>
                </a:solidFill>
              </a:defRPr>
            </a:pPr>
            <a:r>
              <a:rPr sz="1950" b="1" i="0">
                <a:solidFill>
                  <a:srgbClr val="00684A"/>
                </a:solidFill>
              </a:rPr>
              <a:t>O DESAFIO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9984C-3C9A-4F28-9E5F-EAE71BE0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669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8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D02F8-3632-41A5-AE54-FAEBEBF9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9EF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5F98E-AEC9-40A7-9CEF-CACDB1D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85975"/>
            <a:ext cx="990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0" i="0">
                <a:solidFill>
                  <a:srgbClr val="00684A"/>
                </a:solidFill>
              </a:defRPr>
            </a:pPr>
            <a:r>
              <a:rPr sz="4350" b="0" i="0">
                <a:solidFill>
                  <a:srgbClr val="00684A"/>
                </a:solidFill>
              </a:rPr>
              <a:t>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4902D-86F7-480F-BFD0-E3DFDDF9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43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062E2A"/>
                </a:solidFill>
              </a:defRPr>
            </a:pPr>
            <a:r>
              <a:rPr sz="3150" b="1" i="0">
                <a:solidFill>
                  <a:srgbClr val="062E2A"/>
                </a:solidFill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12A27-EF52-487B-9929-B176419E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09800"/>
            <a:ext cx="24574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• cada sessão perde contexto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• handoffs quebram ownership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• busca literal erra reformulações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• LLM repete respostas conhecidas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• políticas e auditoria se fragmentam</a:t>
            </a:r>
          </a:p>
        </p:txBody>
      </p:sp>
      <p:sp>
        <p:nvSpPr>
          <p:cNvPr id="16" name="solution-card">
            <a:extLst xmlns:a="http://schemas.openxmlformats.org/drawingml/2006/main">
              <a:ext uri="{FF2B5EF4-FFF2-40B4-BE49-F238E27FC236}">
                <a16:creationId xmlns:a16="http://schemas.microsoft.com/office/drawing/2014/main" id="{202AD97E-FD1B-44B1-9FE4-4FD9A03F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8096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CC679-B9B1-4E12-9D00-92A1825E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85950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9DD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EB716-060F-4F6C-BC57-05EC702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027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 i="0">
                <a:solidFill>
                  <a:srgbClr val="00684A"/>
                </a:solidFill>
              </a:defRPr>
            </a:pPr>
            <a:r>
              <a:rPr sz="2625" b="1" i="0">
                <a:solidFill>
                  <a:srgbClr val="00684A"/>
                </a:solidFill>
              </a:rPr>
              <a:t>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4388B-3150-4FFB-AA3F-B445B22C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0684A"/>
                </a:solidFill>
              </a:defRPr>
            </a:pPr>
            <a:r>
              <a:rPr sz="1950" b="1" i="0">
                <a:solidFill>
                  <a:srgbClr val="00684A"/>
                </a:solidFill>
              </a:rPr>
              <a:t>COMO RESOLVEMOS — MONGODB ATLAS + VOYAGE‑4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17899-09DF-4D84-AA38-F9D383B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28850"/>
            <a:ext cx="571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263A40"/>
                </a:solidFill>
              </a:defRPr>
            </a:pPr>
            <a:r>
              <a:rPr sz="1500" b="0" i="0">
                <a:solidFill>
                  <a:srgbClr val="263A40"/>
                </a:solidFill>
              </a:rPr>
              <a:t>MongoDB vira o plano compartilhado de contexto e coordenação. Automated Embedding gera vetores dentro do Atlas; Vector Search recupera por intenção; Atlas Search preserva precisão lexical; o orquestrador combina tudo antes do LLM.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AEC31-67C7-44BC-80B6-7A319DA0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22383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68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sem vector DB separada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2D71F-CA4C-4086-BFBD-738A910C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22383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68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cache semântico isolado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F472D-9424-498B-89A4-F0877097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76625"/>
            <a:ext cx="22383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68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coordenação como dados</a:t>
            </a:r>
          </a:p>
        </p:txBody>
      </p:sp>
      <p:sp>
        <p:nvSpPr>
          <p:cNvPr id="24" name="stack-card">
            <a:extLst xmlns:a="http://schemas.openxmlformats.org/drawingml/2006/main">
              <a:ext uri="{FF2B5EF4-FFF2-40B4-BE49-F238E27FC236}">
                <a16:creationId xmlns:a16="http://schemas.microsoft.com/office/drawing/2014/main" id="{4F8875E3-1403-4364-9EA1-37D66886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428750"/>
            <a:ext cx="4572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261A3-D152-496E-B385-F4A0CC24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657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0684A"/>
                </a:solidFill>
              </a:defRPr>
            </a:pPr>
            <a:r>
              <a:rPr sz="1950" b="1" i="0">
                <a:solidFill>
                  <a:srgbClr val="00684A"/>
                </a:solidFill>
              </a:rPr>
              <a:t>STACK TÉCNICO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80018-8F74-4E54-BC19-DCAFB2F2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0383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9DD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DD059-6767-4F85-83F2-D7D26081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2095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684A"/>
                </a:solidFill>
              </a:defRPr>
            </a:pPr>
            <a:r>
              <a:rPr sz="1275" b="1" i="0">
                <a:solidFill>
                  <a:srgbClr val="00684A"/>
                </a:solidFill>
              </a:rPr>
              <a:t>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BC475-04F1-4335-9D23-F81ECF0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076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Documents + TTL · 24h / 60m / 30d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3BC9A4-F426-47C4-8A59-4F54CD68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4765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DE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4AF4B-2CE9-4699-9D97-C11BC88F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4288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9DD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F34FE1-3159-4A19-9268-D35E45AF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24860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684A"/>
                </a:solidFill>
              </a:defRPr>
            </a:pPr>
            <a:r>
              <a:rPr sz="975" b="1" i="0">
                <a:solidFill>
                  <a:srgbClr val="00684A"/>
                </a:solidFill>
              </a:rPr>
              <a:t>V4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170BBF-9E1B-4B15-814E-C6AB9A3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4669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Automated Embedding · voyage‑4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D1AE1-6E2C-49D7-B262-4BBE4E54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670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DE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EC15D2-1429-4B44-86A7-6A6445F3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8194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9DDC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F41A9B-E301-43B4-8A94-4657BA52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2876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684A"/>
                </a:solidFill>
              </a:defRPr>
            </a:pPr>
            <a:r>
              <a:rPr sz="1275" b="1" i="0">
                <a:solidFill>
                  <a:srgbClr val="00684A"/>
                </a:solidFill>
              </a:rPr>
              <a:t>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C7158A-B5A6-4956-AFEB-D88B2549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Atlas Vector 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2D882E-54EF-4126-885D-AF5B9E05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2575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DE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2D3712-E2D4-403F-BF91-80F6B814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2099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9DDC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84EDF8-0FAB-4D5D-96A4-F47D2D6C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2670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684A"/>
                </a:solidFill>
              </a:defRPr>
            </a:pPr>
            <a:r>
              <a:rPr sz="1275" b="1" i="0">
                <a:solidFill>
                  <a:srgbClr val="00684A"/>
                </a:solidFill>
              </a:rPr>
              <a:t>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528E26-D10B-4AE6-ACE8-59A473A8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2480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Atlas Search (BM25) + Vector + RRF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7CE4EA-E7A1-4737-A719-961CC06B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6480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DE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2CCFF2-5C49-483D-B8C4-A6B20EA3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00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9DDC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1C83FE-7B12-414C-95DD-4F3EF260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657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684A"/>
                </a:solidFill>
              </a:defRPr>
            </a:pPr>
            <a:r>
              <a:rPr sz="975" b="1" i="0">
                <a:solidFill>
                  <a:srgbClr val="00684A"/>
                </a:solidFill>
              </a:rPr>
              <a:t>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94B44E-6FCE-48A5-9723-E8DE13BE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638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63A40"/>
                </a:solidFill>
              </a:defRPr>
            </a:pPr>
            <a:r>
              <a:rPr sz="1275" b="0" i="0">
                <a:solidFill>
                  <a:srgbClr val="263A40"/>
                </a:solidFill>
              </a:rPr>
              <a:t>Change Streams + filtros de tenant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0FB8BE-5994-47CD-B3AF-D8367055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0386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DE"/>
            </a:solidFill>
            <a:prstDash val="dash"/>
          </a:ln>
        </p:spPr>
      </p:sp>
      <p:sp>
        <p:nvSpPr>
          <p:cNvPr id="46" name="architecture-card">
            <a:extLst xmlns:a="http://schemas.openxmlformats.org/drawingml/2006/main">
              <a:ext uri="{FF2B5EF4-FFF2-40B4-BE49-F238E27FC236}">
                <a16:creationId xmlns:a16="http://schemas.microsoft.com/office/drawing/2014/main" id="{30CB6C21-E6CF-4184-BDE3-2DA1104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173355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E5E996-9B87-497F-975C-9BAD3126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684A"/>
                </a:solidFill>
              </a:defRPr>
            </a:pPr>
            <a:r>
              <a:rPr sz="1800" b="1" i="0">
                <a:solidFill>
                  <a:srgbClr val="00684A"/>
                </a:solidFill>
              </a:rPr>
              <a:t>MAPA DO TURNO E DAS CAMADAS DE MEMÓRIA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8815FC-6718-4CE8-B528-47D259BD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64777D"/>
                </a:solidFill>
              </a:defRPr>
            </a:pPr>
            <a:r>
              <a:rPr sz="1350" b="1" i="0">
                <a:solidFill>
                  <a:srgbClr val="64777D"/>
                </a:solidFill>
              </a:rPr>
              <a:t>Cobertura: procedural • working • cache • semântica • episódica • estado operacional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B8AFB0-5304-41FF-96D1-4EE341FA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7721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CD1DC5-3D73-49FF-8457-6504A8A1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7721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F11A4D-7F9D-4321-8962-E81E8F4A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7721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3CA279-E9E6-4173-8B85-29CB8F92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57721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53" name="flow-1">
            <a:extLst xmlns:a="http://schemas.openxmlformats.org/drawingml/2006/main">
              <a:ext uri="{FF2B5EF4-FFF2-40B4-BE49-F238E27FC236}">
                <a16:creationId xmlns:a16="http://schemas.microsoft.com/office/drawing/2014/main" id="{5D427BC5-3354-4DB2-9C84-35D1F67D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857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226421-E603-4366-A01C-76A853F1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5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5CFC7B-B4FE-4322-9F5C-C7862149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52975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2C7086-16CA-449D-A475-392A086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B7A53"/>
                </a:solidFill>
              </a:defRPr>
            </a:pPr>
            <a:r>
              <a:rPr sz="975" b="1" i="0">
                <a:solidFill>
                  <a:srgbClr val="0B7A53"/>
                </a:solidFill>
              </a:rPr>
              <a:t>PROCEDURAL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F366F7-FEA6-4CB3-909F-8268AB66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62E2A"/>
                </a:solidFill>
              </a:defRPr>
            </a:pPr>
            <a:r>
              <a:rPr sz="1800" b="1" i="0">
                <a:solidFill>
                  <a:srgbClr val="062E2A"/>
                </a:solidFill>
              </a:rPr>
              <a:t>Política &amp; rota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D73C1F-82F0-4BB1-9245-9E8E337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Quem pode agir, com qual modelo, regra e budget.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6DAF2C-4650-4B92-9452-8AF0404B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531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83BE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ai_brain.agent_registry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B66E46-D7FC-4859-85B1-666D07C0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3817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ai_brain.routing_rules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8E4AEA-CB99-4369-ADF0-FD8A6AF3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103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ai_brain.guardrail_policies</a:t>
            </a:r>
          </a:p>
        </p:txBody>
      </p:sp>
      <p:sp>
        <p:nvSpPr>
          <p:cNvPr id="62" name="flow-2">
            <a:extLst xmlns:a="http://schemas.openxmlformats.org/drawingml/2006/main">
              <a:ext uri="{FF2B5EF4-FFF2-40B4-BE49-F238E27FC236}">
                <a16:creationId xmlns:a16="http://schemas.microsoft.com/office/drawing/2014/main" id="{6BEA2DF0-0971-4E4F-A883-C6F0B550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2857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C8C49D-A1A4-4336-9225-C9A86928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6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539BC1-B5F2-4EA3-9372-F521857B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52975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60572C-EE13-4DE8-9E1A-E5C3B62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054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68C62"/>
                </a:solidFill>
              </a:defRPr>
            </a:pPr>
            <a:r>
              <a:rPr sz="975" b="1" i="0">
                <a:solidFill>
                  <a:srgbClr val="168C62"/>
                </a:solidFill>
              </a:rPr>
              <a:t>WORKING + CACHE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4307D2-4AAD-4798-B6ED-830DDB5A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62E2A"/>
                </a:solidFill>
              </a:defRPr>
            </a:pPr>
            <a:r>
              <a:rPr sz="1800" b="1" i="0">
                <a:solidFill>
                  <a:srgbClr val="062E2A"/>
                </a:solidFill>
              </a:rPr>
              <a:t>Recall semântico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4DFB7A-CF69-4CF0-99AC-9BE916E5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769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Uma consulta decide HIT; em MISS, busca contexto longo.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8D4DBA-6634-43E6-BA45-ED8DCAE5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1531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83BE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short_term_memory · 24h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C047ED-5428-488C-B323-1CB32A9B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3817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semantic_cache · 60m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02CA07-11A2-4B2F-A19A-50D78129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6103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long_term_memory · Vector*</a:t>
            </a:r>
          </a:p>
        </p:txBody>
      </p:sp>
      <p:sp>
        <p:nvSpPr>
          <p:cNvPr id="71" name="flow-3">
            <a:extLst xmlns:a="http://schemas.openxmlformats.org/drawingml/2006/main">
              <a:ext uri="{FF2B5EF4-FFF2-40B4-BE49-F238E27FC236}">
                <a16:creationId xmlns:a16="http://schemas.microsoft.com/office/drawing/2014/main" id="{8D40C7C7-ABE5-42A8-9163-17D9DB77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2857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5E52C6-1B81-4097-93D2-F6D65487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5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D60B2A-B9F5-41A2-BE9C-AED59DC3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52975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D53907-DDC8-4FE8-8275-CDD69D92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054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A35C"/>
                </a:solidFill>
              </a:defRPr>
            </a:pPr>
            <a:r>
              <a:rPr sz="975" b="1" i="0">
                <a:solidFill>
                  <a:srgbClr val="00A35C"/>
                </a:solidFill>
              </a:rPr>
              <a:t>SEMÂNTICA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C71AEC-A5F4-46D2-8CCF-F84CE524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62E2A"/>
                </a:solidFill>
              </a:defRPr>
            </a:pPr>
            <a:r>
              <a:rPr sz="1800" b="1" i="0">
                <a:solidFill>
                  <a:srgbClr val="062E2A"/>
                </a:solidFill>
              </a:rPr>
              <a:t>Contexto &amp; saber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9F906D-9984-4350-8C8B-C7A47A64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769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Preferências do cliente e conhecimento relevante do domínio.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67A27D-41ED-4B86-82F6-C607B57C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1531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83BE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customer_memory · supersessão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CACB29-FE80-45D7-AE34-5365C115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3817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products_catalog · Vector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B04588-11E7-4702-8167-08BF56EB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103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kb_articles · Search + RRF</a:t>
            </a:r>
          </a:p>
        </p:txBody>
      </p:sp>
      <p:sp>
        <p:nvSpPr>
          <p:cNvPr id="80" name="flow-4">
            <a:extLst xmlns:a="http://schemas.openxmlformats.org/drawingml/2006/main">
              <a:ext uri="{FF2B5EF4-FFF2-40B4-BE49-F238E27FC236}">
                <a16:creationId xmlns:a16="http://schemas.microsoft.com/office/drawing/2014/main" id="{25910454-5EEB-496C-BB86-745CBC7A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0"/>
            <a:ext cx="2857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65F4A0-FDF6-41D5-9082-DBFE0CC7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F6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817A09-F08E-4CA8-B0E0-863C597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752975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990786-DA08-4A8C-8649-2299C4A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054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A8F66"/>
                </a:solidFill>
              </a:defRPr>
            </a:pPr>
            <a:r>
              <a:rPr sz="975" b="1" i="0">
                <a:solidFill>
                  <a:srgbClr val="0A8F66"/>
                </a:solidFill>
              </a:rPr>
              <a:t>EPISÓDICA + OPERACIONAL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F1F93E-493D-4BEB-A0DB-1734D7A3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314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62E2A"/>
                </a:solidFill>
              </a:defRPr>
            </a:pPr>
            <a:r>
              <a:rPr sz="1800" b="1" i="0">
                <a:solidFill>
                  <a:srgbClr val="062E2A"/>
                </a:solidFill>
              </a:rPr>
              <a:t>Handoff &amp; ação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01C2048-AD14-44D4-A002-753CEBD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769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Ownership explícito, ações restritas e estado de negócio.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095107-6FB9-401F-B40F-693374B6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83BE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agent_handoffs · Change Stream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1847CA5-60A3-4C19-B989-3B336582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orders · invoices · shipments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AF955B-3D17-47E0-B166-C977E650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6103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tickets · redemptions</a:t>
            </a:r>
          </a:p>
        </p:txBody>
      </p:sp>
      <p:sp>
        <p:nvSpPr>
          <p:cNvPr id="89" name="flow-5">
            <a:extLst xmlns:a="http://schemas.openxmlformats.org/drawingml/2006/main">
              <a:ext uri="{FF2B5EF4-FFF2-40B4-BE49-F238E27FC236}">
                <a16:creationId xmlns:a16="http://schemas.microsoft.com/office/drawing/2014/main" id="{93602690-0875-4D6C-93F1-96E02755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953000"/>
            <a:ext cx="2857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4E646C9-8EB3-4B46-8E00-198411DA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45C26FD-36F6-4F87-9DD1-0585706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4752975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1B607E-8AB8-4986-93F8-30154AD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51054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684A"/>
                </a:solidFill>
              </a:defRPr>
            </a:pPr>
            <a:r>
              <a:rPr sz="975" b="1" i="0">
                <a:solidFill>
                  <a:srgbClr val="00684A"/>
                </a:solidFill>
              </a:rPr>
              <a:t>EPISÓDICA + QUALIDADE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8866B4-30E5-4758-995D-EB5ADAAC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5314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62E2A"/>
                </a:solidFill>
              </a:defRPr>
            </a:pPr>
            <a:r>
              <a:rPr sz="1800" b="1" i="0">
                <a:solidFill>
                  <a:srgbClr val="062E2A"/>
                </a:solidFill>
              </a:rPr>
              <a:t>Registro &amp; evolução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F2A7822-3035-4F01-872A-F15BAF87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6769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Continuidade, timeline auditável e histórico de avaliação.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A1B5D35-47EA-4563-BF78-3252EB4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1531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83BE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agent_conversations · 24h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956EF1-69B8-4843-9183-45D79987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3817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agent_traces · 30d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9D3C48A-9119-4FB2-8328-662C6758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610350"/>
            <a:ext cx="2400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D9EB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84A"/>
                </a:solidFill>
              </a:defRPr>
            </a:pPr>
            <a:r>
              <a:rPr sz="975" b="1">
                <a:solidFill>
                  <a:srgbClr val="00684A"/>
                </a:solidFill>
              </a:rPr>
              <a:t>eval_runs · 90d</a:t>
            </a:r>
          </a:p>
        </p:txBody>
      </p:sp>
      <p:sp>
        <p:nvSpPr>
          <p:cNvPr id="98" name="brain-db">
            <a:extLst xmlns:a="http://schemas.openxmlformats.org/drawingml/2006/main">
              <a:ext uri="{FF2B5EF4-FFF2-40B4-BE49-F238E27FC236}">
                <a16:creationId xmlns:a16="http://schemas.microsoft.com/office/drawing/2014/main" id="{DE44B2C9-9C96-407A-82F2-B9DB22E7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4288">
            <a:solidFill>
              <a:srgbClr val="0068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4A"/>
                </a:solidFill>
              </a:defRPr>
            </a:pPr>
            <a:r>
              <a:rPr sz="1350" b="1">
                <a:solidFill>
                  <a:srgbClr val="00684A"/>
                </a:solidFill>
              </a:rPr>
              <a:t>ai_brain  ·  PLANO DE CONTROLE / MEMÓRIA PROCEDURAL</a:t>
            </a:r>
          </a:p>
        </p:txBody>
      </p:sp>
      <p:sp>
        <p:nvSpPr>
          <p:cNvPr id="99" name="data-db">
            <a:extLst xmlns:a="http://schemas.openxmlformats.org/drawingml/2006/main">
              <a:ext uri="{FF2B5EF4-FFF2-40B4-BE49-F238E27FC236}">
                <a16:creationId xmlns:a16="http://schemas.microsoft.com/office/drawing/2014/main" id="{9FEB17AA-EE35-4CE0-9267-7317E70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086600"/>
            <a:ext cx="11811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14288">
            <a:solidFill>
              <a:srgbClr val="0068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84A"/>
                </a:solidFill>
              </a:defRPr>
            </a:pPr>
            <a:r>
              <a:rPr sz="1500" b="1">
                <a:solidFill>
                  <a:srgbClr val="00684A"/>
                </a:solidFill>
              </a:rPr>
              <a:t>multi_agent_poc  ·  PLANO DE DADOS + CONTEXTO + COORDENAÇÃO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ED71660-C086-4692-A916-BBB60EBA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6764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E394900-0BA5-4452-A651-E9DBD538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58125"/>
            <a:ext cx="163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As collections não “chamam” umas às outras: o orquestrador encadeia reads/writes por  customer_key  •  conversation_id  •  agent  •  area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79CE4D0-1817-492C-8F54-E1E709D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29600"/>
            <a:ext cx="1662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1">
                <a:solidFill>
                  <a:srgbClr val="64777D"/>
                </a:solidFill>
              </a:defRPr>
            </a:pPr>
            <a:r>
              <a:rPr sz="1050" b="0" i="1">
                <a:solidFill>
                  <a:srgbClr val="64777D"/>
                </a:solidFill>
              </a:rPr>
              <a:t>* Transparência da PoV: long_term_memory já possui recuperação Vector Search; falta automatizar a ingestão/consolidação que a popula.</a:t>
            </a:r>
          </a:p>
        </p:txBody>
      </p:sp>
      <p:sp>
        <p:nvSpPr>
          <p:cNvPr id="103" name="benefits-card">
            <a:extLst xmlns:a="http://schemas.openxmlformats.org/drawingml/2006/main">
              <a:ext uri="{FF2B5EF4-FFF2-40B4-BE49-F238E27FC236}">
                <a16:creationId xmlns:a16="http://schemas.microsoft.com/office/drawing/2014/main" id="{DCBD0E84-BFFC-45F1-9D3D-A416481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0"/>
            <a:ext cx="1733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4A18F90-4B81-452F-ABAF-C8533B8C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96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684A"/>
                </a:solidFill>
              </a:defRPr>
            </a:pPr>
            <a:r>
              <a:rPr sz="1500" b="1" i="0">
                <a:solidFill>
                  <a:srgbClr val="00684A"/>
                </a:solidFill>
              </a:rPr>
              <a:t>BENEFÍCIOS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684A"/>
                </a:solidFill>
              </a:defRPr>
            </a:pPr>
            <a:r>
              <a:rPr sz="1500" b="1" i="0">
                <a:solidFill>
                  <a:srgbClr val="00684A"/>
                </a:solidFill>
              </a:rPr>
              <a:t>PARA A POV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45475B-B60C-4740-9A59-72136BEC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88392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3BE9D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4323F9-7AB1-45D8-B724-8184A772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858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4D3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6FE93B-9DE5-457A-9446-4186A90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9916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9E63DD6-16A7-4E09-AC60-A6E25AEC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877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2E2A"/>
                </a:solidFill>
              </a:defRPr>
            </a:pPr>
            <a:r>
              <a:rPr sz="1500" b="1" i="0">
                <a:solidFill>
                  <a:srgbClr val="062E2A"/>
                </a:solidFill>
              </a:rPr>
              <a:t>Continuidade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B02BC4A-A1DE-475E-8EBA-89229EB4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928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entre turnos e sessões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77F3C04-10F3-4225-BE5E-C6D7677D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858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4D3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6CBF854-D76E-4B88-B6AB-CCB6122B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9916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↯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538B193-6DB4-4574-A9D7-2D6D5E77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877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2E2A"/>
                </a:solidFill>
              </a:defRPr>
            </a:pPr>
            <a:r>
              <a:rPr sz="1500" b="1" i="0">
                <a:solidFill>
                  <a:srgbClr val="062E2A"/>
                </a:solidFill>
              </a:rPr>
              <a:t>Menor custo e latência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9A14A0B-C1B4-4120-A071-A58A60D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28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reuso semântico antes do LLM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6854247-8D93-43F1-B99C-3591439E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8858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4D3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F939DD5-C5F9-4CA5-8C4D-8B953135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89916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CB26232-38A5-4726-A26A-AC10039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8877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2E2A"/>
                </a:solidFill>
              </a:defRPr>
            </a:pPr>
            <a:r>
              <a:rPr sz="1500" b="1" i="0">
                <a:solidFill>
                  <a:srgbClr val="062E2A"/>
                </a:solidFill>
              </a:rPr>
              <a:t>Mais relevância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F138E4A-7328-478F-929D-15E0416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928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Vector + BM25 + contexto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3FEBCF5-1436-48BF-82C1-A3C0C139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858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4D3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9D2FE94-E865-411E-A7DE-B0430A9F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9916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CS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596C5B3-FA9A-497C-94C6-811AC5A4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8877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2E2A"/>
                </a:solidFill>
              </a:defRPr>
            </a:pPr>
            <a:r>
              <a:rPr sz="1500" b="1" i="0">
                <a:solidFill>
                  <a:srgbClr val="062E2A"/>
                </a:solidFill>
              </a:rPr>
              <a:t>Coordenação ao vivo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3773E2A-5AEA-4191-AF53-8C1F0846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928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4777D"/>
                </a:solidFill>
              </a:defRPr>
            </a:pPr>
            <a:r>
              <a:rPr sz="1200" b="0" i="0">
                <a:solidFill>
                  <a:srgbClr val="64777D"/>
                </a:solidFill>
              </a:rPr>
              <a:t>handoffs auditáveis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0EB5795-E48A-4560-ABA3-3F0D9FA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MongoDB × Voyage‑4  |  Context Engineering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7E1171F-5171-49F1-B380-DA6BC115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9906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 i="0">
                <a:solidFill>
                  <a:srgbClr val="D8EEE4"/>
                </a:solidFill>
              </a:defRPr>
            </a:pPr>
            <a:r>
              <a:rPr sz="1200" b="0" i="0">
                <a:solidFill>
                  <a:srgbClr val="D8EEE4"/>
                </a:solidFill>
              </a:rPr>
              <a:t>PoV Multi‑Agent · arquitetura atual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A9D2F18-EC1E-42FC-96A6-6DD28080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9350" y="98298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0684A"/>
                </a:solidFill>
              </a:defRPr>
            </a:pPr>
            <a:r>
              <a:rPr sz="1500" b="1" i="0">
                <a:solidFill>
                  <a:srgbClr val="00684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62992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2026-07-17T18:35:26.1390000Z</dcterms:created>
  <dcterms:modified xsi:type="dcterms:W3CDTF">2026-07-17T18:35:26.1390000Z</dcterms:modified>
</coreProperties>
</file>