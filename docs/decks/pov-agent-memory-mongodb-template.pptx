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7c4305b33f43b8" /><Relationship Type="http://schemas.openxmlformats.org/officeDocument/2006/relationships/extended-properties" Target="/docProps/app.xml" Id="R11ed6d37334a417b" /><Relationship Type="http://schemas.openxmlformats.org/officeDocument/2006/relationships/officeDocument" Target="/ppt/presentation.xml" Id="R44f200b6cca14d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ddf215077646e4"/>
  </p:sldMasterIdLst>
  <p:notesMasterIdLst>
    <p:notesMasterId xmlns:r="http://schemas.openxmlformats.org/officeDocument/2006/relationships" r:id="Rfb0e57073c78456c"/>
  </p:notesMasterIdLst>
  <p:sldIdLst>
    <p:sldId xmlns:r="http://schemas.openxmlformats.org/officeDocument/2006/relationships" id="256" r:id="R753c4e9737d2465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275b059812459e" /><Relationship Type="http://schemas.openxmlformats.org/officeDocument/2006/relationships/slideMaster" Target="/ppt/slideMasters/slideMaster1.xml" Id="Re3ddf215077646e4" /><Relationship Type="http://schemas.openxmlformats.org/officeDocument/2006/relationships/notesMaster" Target="/ppt/notesMasters/notesMaster1.xml" Id="Rfb0e57073c78456c" /><Relationship Type="http://schemas.openxmlformats.org/officeDocument/2006/relationships/presProps" Target="/ppt/presProps.xml" Id="Re93db244debb4bd4" /><Relationship Type="http://schemas.openxmlformats.org/officeDocument/2006/relationships/tableStyles" Target="/ppt/tableStyles.xml" Id="R30c73d041edf4409" /><Relationship Type="http://schemas.openxmlformats.org/officeDocument/2006/relationships/slide" Target="/ppt/slides/slide1.xml" Id="R753c4e9737d2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58f7c4345b4e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e906aabf6d4ef1" /><Relationship Type="http://schemas.openxmlformats.org/officeDocument/2006/relationships/notesMaster" Target="/ppt/notesMasters/notesMaster1.xml" Id="R94bc6d5fc0a74d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Taxonomia oficial: Short-Term Memory contém Working Memory e Semantic Cache; Long-Term Memory contém Episodic, Semantic, Procedural e Associative Memory; Shared Memory é transversal.</a:t>
            </a:r>
          </a:p>
          <a:p xmlns:a="http://schemas.openxmlformats.org/drawingml/2006/main">
            <a:r>
              <a:t>Mapeamento da PoV: customer_memory é Entity Memory; kb_articles/products_catalog são Knowledge Base; agent_registry representa Persona Memory; routing_rules/guardrail_policies/tools representam Procedural Memory.</a:t>
            </a:r>
          </a:p>
          <a:p xmlns:a="http://schemas.openxmlformats.org/drawingml/2006/main">
            <a:r>
              <a:t>Transparência: Associative Memory não está implementada como graph traversal. long_term_memory possui índice/retrieval Voyage-4, mas ainda não há consolidação/ingestão automática.</a:t>
            </a:r>
          </a:p>
          <a:p xmlns:a="http://schemas.openxmlformats.org/drawingml/2006/main">
            <a:r>
              <a:t>Fontes: https://www.mongodb.com/ e https://www.mongodb.com/resources/basics/artificial-intelligence/agent-memory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ce65f686246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6383c479644a0e" /><Relationship Type="http://schemas.openxmlformats.org/officeDocument/2006/relationships/slideLayout" Target="/ppt/slideLayouts/slideLayout1.xml" Id="R66b4d7925ec149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b4d7925ec149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6826460754d9c" /><Relationship Type="http://schemas.openxmlformats.org/officeDocument/2006/relationships/notesSlide" Target="/ppt/notesSlides/notesSlide1.xml" Id="Rdd860d0c5e1c4f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1B903F6-B88F-487E-9AF3-10D7F620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2B"/>
          </a:solidFill>
          <a:ln xmlns:a="http://schemas.openxmlformats.org/drawingml/2006/main" w="0">
            <a:solidFill>
              <a:srgbClr val="001E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39368-B478-4199-AEF0-43B80503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0"/>
            <a:ext cx="62388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21"/>
          </a:solidFill>
          <a:ln xmlns:a="http://schemas.openxmlformats.org/drawingml/2006/main" w="0">
            <a:solidFill>
              <a:srgbClr val="0616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6A92D-E5EE-4E80-9C49-3A9B8BDD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90775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0">
            <a:solidFill>
              <a:srgbClr val="00ED6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9991C-A036-46FA-83AF-FAE9837A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39325"/>
            <a:ext cx="1828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2B"/>
          </a:solidFill>
          <a:ln xmlns:a="http://schemas.openxmlformats.org/drawingml/2006/main" w="0">
            <a:solidFill>
              <a:srgbClr val="001E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FF73A-FA3F-4690-9B5C-4ADFD21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576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3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CA4A5-697E-428B-A8FD-56C5C37F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2907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3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89768-F28B-4838-861E-80A948BE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290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3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04C3D-A38F-48F8-BB99-2F8AA7A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290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3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79FCF-A503-49F7-9197-0B317D7B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0485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35C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76E08-C0FD-4FAE-86CD-477DDC31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5723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35C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B26E2-2451-474D-96CD-2380B3B9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ED64"/>
                </a:solidFill>
              </a:defRPr>
            </a:pPr>
            <a:r>
              <a:rPr sz="1875" b="1" i="0">
                <a:solidFill>
                  <a:srgbClr val="00ED64"/>
                </a:solidFill>
              </a:rPr>
              <a:t>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B3A17-0AEA-47B7-836D-EBCD85C0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5F4C6-C5B9-4E7C-800E-F059CBD6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B1FF05"/>
                </a:solidFill>
              </a:defRPr>
            </a:pPr>
            <a:r>
              <a:rPr sz="1050" b="1" i="0">
                <a:solidFill>
                  <a:srgbClr val="B1FF05"/>
                </a:solidFill>
              </a:rPr>
              <a:t>MONGODB ATLAS · AGENT MEMORY</a:t>
            </a:r>
          </a:p>
        </p:txBody>
      </p:sp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034F6A-48FB-4BA9-8EC1-7326B402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75" b="0" i="0">
                <a:solidFill>
                  <a:srgbClr val="FFFFFF"/>
                </a:solidFill>
              </a:defRPr>
            </a:pPr>
            <a:r>
              <a:rPr sz="3375" b="0" i="0">
                <a:solidFill>
                  <a:srgbClr val="FFFFFF"/>
                </a:solidFill>
              </a:rPr>
              <a:t>Uma plataforma de memória.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75" b="0" i="0">
                <a:solidFill>
                  <a:srgbClr val="FFFFFF"/>
                </a:solidFill>
              </a:defRPr>
            </a:pPr>
            <a:r>
              <a:rPr sz="3375" b="0" i="0">
                <a:solidFill>
                  <a:srgbClr val="FFFFFF"/>
                </a:solidFill>
              </a:rPr>
              <a:t>Agentes que mantêm contexto.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CFECB-0DBB-4FE5-86E1-2123AE4B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C9D6D2"/>
                </a:solidFill>
              </a:defRPr>
            </a:pPr>
            <a:r>
              <a:rPr sz="1350" b="0" i="0">
                <a:solidFill>
                  <a:srgbClr val="C9D6D2"/>
                </a:solidFill>
              </a:rPr>
              <a:t>A PoV transforma dados, eventos e políticas em memória recuperável e compartilhada entre agentes.</a:t>
            </a:r>
          </a:p>
        </p:txBody>
      </p:sp>
      <p:sp>
        <p:nvSpPr>
          <p:cNvPr id="16" name="hero-code-panel">
            <a:extLst xmlns:a="http://schemas.openxmlformats.org/drawingml/2006/main">
              <a:ext uri="{FF2B5EF4-FFF2-40B4-BE49-F238E27FC236}">
                <a16:creationId xmlns:a16="http://schemas.microsoft.com/office/drawing/2014/main" id="{329C588F-0941-48C5-B8BE-BBEFA7D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61950"/>
            <a:ext cx="5095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1621"/>
          </a:solidFill>
          <a:ln xmlns:a="http://schemas.openxmlformats.org/drawingml/2006/main" w="9525">
            <a:solidFill>
              <a:srgbClr val="3156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38B82-FCC9-4FE9-B039-8987A504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E290A-CBD5-44FC-8BC9-408D0634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F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8EE8F-21C7-4DB8-881F-218D3BD1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51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8DA7A-4356-4D25-B774-5AF93693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524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ED64"/>
                </a:solidFill>
              </a:defRPr>
            </a:pPr>
            <a:r>
              <a:rPr sz="1200" b="1" i="0">
                <a:solidFill>
                  <a:srgbClr val="00ED64"/>
                </a:solidFill>
              </a:rPr>
              <a:t>agent_memory {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375ED-C5B4-482F-BDF8-DEE74728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100012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short_term:  working + semantic_cache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long_term:   episodic + semantic + procedural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shared:      ai_brain + multi_agent_poc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8014A-F3C2-4D93-AEE8-AB439BDA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6859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ED64"/>
                </a:solidFill>
              </a:defRPr>
            </a:pPr>
            <a:r>
              <a:rPr sz="1200" b="1" i="0">
                <a:solidFill>
                  <a:srgbClr val="00ED64"/>
                </a:solidFill>
              </a:rPr>
              <a:t>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9BA96-1F37-47A4-AAD5-9A3B2DF9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47625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0">
            <a:solidFill>
              <a:srgbClr val="00ED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DED5B-B4F6-4B7F-A90B-C9675AC0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684A"/>
                </a:solidFill>
              </a:defRPr>
            </a:pPr>
            <a:r>
              <a:rPr sz="1050" b="1" i="0">
                <a:solidFill>
                  <a:srgbClr val="00684A"/>
                </a:solidFill>
              </a:rPr>
              <a:t>O DESAFIO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22AF51-8333-4F06-82F5-D40F7F1F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001E2B"/>
                </a:solidFill>
              </a:defRPr>
            </a:pPr>
            <a:r>
              <a:rPr sz="2250" b="0" i="0">
                <a:solidFill>
                  <a:srgbClr val="001E2B"/>
                </a:solidFill>
              </a:rPr>
              <a:t>De agentes reativos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001E2B"/>
                </a:solidFill>
              </a:defRPr>
            </a:pPr>
            <a:r>
              <a:rPr sz="2250" b="0" i="0">
                <a:solidFill>
                  <a:srgbClr val="001E2B"/>
                </a:solidFill>
              </a:rPr>
              <a:t>para um sistema que lembra.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A00FF-BE70-409D-8DCF-A69EB4A4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285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21313C"/>
                </a:solidFill>
              </a:defRPr>
            </a:pPr>
            <a:r>
              <a:rPr sz="1200" b="0" i="0">
                <a:solidFill>
                  <a:srgbClr val="21313C"/>
                </a:solidFill>
              </a:rPr>
              <a:t>• contexto morre no fim da sessão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21313C"/>
                </a:solidFill>
              </a:defRPr>
            </a:pPr>
            <a:r>
              <a:rPr sz="1200" b="0" i="0">
                <a:solidFill>
                  <a:srgbClr val="21313C"/>
                </a:solidFill>
              </a:rPr>
              <a:t>• handoffs quebram continuidade e ownership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21313C"/>
                </a:solidFill>
              </a:defRPr>
            </a:pPr>
            <a:r>
              <a:rPr sz="1200" b="0" i="0">
                <a:solidFill>
                  <a:srgbClr val="21313C"/>
                </a:solidFill>
              </a:rPr>
              <a:t>• busca literal perde intenção e reformulações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21313C"/>
                </a:solidFill>
              </a:defRPr>
            </a:pPr>
            <a:r>
              <a:rPr sz="1200" b="0" i="0">
                <a:solidFill>
                  <a:srgbClr val="21313C"/>
                </a:solidFill>
              </a:rPr>
              <a:t>• respostas conhecidas são recomputadas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21313C"/>
                </a:solidFill>
              </a:defRPr>
            </a:pPr>
            <a:r>
              <a:rPr sz="1200" b="0" i="0">
                <a:solidFill>
                  <a:srgbClr val="21313C"/>
                </a:solidFill>
              </a:rPr>
              <a:t>• políticas, estado e auditoria se fragmentam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97012B-59A9-4579-8875-DF81A437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388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684A"/>
                </a:solidFill>
              </a:defRPr>
            </a:pPr>
            <a:r>
              <a:rPr sz="1050" b="1" i="0">
                <a:solidFill>
                  <a:srgbClr val="00684A"/>
                </a:solidFill>
              </a:rPr>
              <a:t>O QUE A POV RESOLVE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E2AD1E-53DC-4414-BD8A-EF09975C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1E2B"/>
                </a:solidFill>
              </a:defRPr>
            </a:pPr>
            <a:r>
              <a:rPr sz="1275" b="1" i="0">
                <a:solidFill>
                  <a:srgbClr val="001E2B"/>
                </a:solidFill>
              </a:rPr>
              <a:t>Continuidade + personalização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16C66E-3E55-45CA-B7A2-2CA356CC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19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memória persiste entre turnos, sessões e agentes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F05015-953E-4E30-93C3-4188353D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86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1E2B"/>
                </a:solidFill>
              </a:defRPr>
            </a:pPr>
            <a:r>
              <a:rPr sz="1275" b="1" i="0">
                <a:solidFill>
                  <a:srgbClr val="001E2B"/>
                </a:solidFill>
              </a:rPr>
              <a:t>Recall relevante + menor custo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4FC5D-9724-4B1A-861A-98E08047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342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Vector + Search recuperam contexto antes do LLM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017F04-09FB-470E-8959-110DE529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2857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01E2B"/>
          </a:solidFill>
          <a:ln xmlns:a="http://schemas.openxmlformats.org/drawingml/2006/main" w="0">
            <a:solidFill>
              <a:srgbClr val="001E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12101D-4017-49F8-BA96-2E439714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1724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0ED64"/>
                </a:solidFill>
              </a:defRPr>
            </a:pPr>
            <a:r>
              <a:rPr sz="1125" b="1" i="0">
                <a:solidFill>
                  <a:srgbClr val="00ED64"/>
                </a:solidFill>
              </a:rPr>
              <a:t>MongoDB = data plane 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0ED64"/>
                </a:solidFill>
              </a:defRPr>
            </a:pPr>
            <a:r>
              <a:rPr sz="1125" b="1" i="0">
                <a:solidFill>
                  <a:srgbClr val="00ED64"/>
                </a:solidFill>
              </a:rPr>
              <a:t>memory plane + coordination plane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06FE12-A52D-447B-A7F9-B530985C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81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684A"/>
                </a:solidFill>
              </a:defRPr>
            </a:pPr>
            <a:r>
              <a:rPr sz="1050" b="1" i="0">
                <a:solidFill>
                  <a:srgbClr val="00684A"/>
                </a:solidFill>
              </a:rPr>
              <a:t>TAXONOMIA MONGODB APLICADA À POV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CD996E-A843-4EA3-9FAF-F4D0E782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1E2B"/>
                </a:solidFill>
              </a:defRPr>
            </a:pPr>
            <a:r>
              <a:rPr sz="2025" b="0" i="0">
                <a:solidFill>
                  <a:srgbClr val="001E2B"/>
                </a:solidFill>
              </a:rPr>
              <a:t>Agent Memory é uma hierarquia de memórias, não uma collection única.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78D559-AB98-429D-9BB7-E569DFBA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385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D6C74"/>
                </a:solidFill>
              </a:defRPr>
            </a:pPr>
            <a:r>
              <a:rPr sz="1200" b="0" i="0">
                <a:solidFill>
                  <a:srgbClr val="5D6C74"/>
                </a:solidFill>
              </a:rPr>
              <a:t>Cada forma tem retenção, esquema, metadata e retrieval próprios.</a:t>
            </a:r>
          </a:p>
        </p:txBody>
      </p:sp>
      <p:sp>
        <p:nvSpPr>
          <p:cNvPr id="37" name="agent-memory-root">
            <a:extLst xmlns:a="http://schemas.openxmlformats.org/drawingml/2006/main">
              <a:ext uri="{FF2B5EF4-FFF2-40B4-BE49-F238E27FC236}">
                <a16:creationId xmlns:a16="http://schemas.microsoft.com/office/drawing/2014/main" id="{8F97C235-D3EC-4FFE-A896-BCFCEFC2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67125"/>
            <a:ext cx="25717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1E2B"/>
          </a:solidFill>
          <a:ln xmlns:a="http://schemas.openxmlformats.org/drawingml/2006/main" w="0">
            <a:solidFill>
              <a:srgbClr val="001E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ED64"/>
                </a:solidFill>
              </a:defRPr>
            </a:pPr>
            <a:r>
              <a:rPr sz="1350" b="1">
                <a:solidFill>
                  <a:srgbClr val="00ED64"/>
                </a:solidFill>
              </a:rPr>
              <a:t>AGENT MEMORY</a:t>
            </a:r>
          </a:p>
        </p:txBody>
      </p:sp>
      <p:sp>
        <p:nvSpPr>
          <p:cNvPr id="38" name="short-term-memory">
            <a:extLst xmlns:a="http://schemas.openxmlformats.org/drawingml/2006/main">
              <a:ext uri="{FF2B5EF4-FFF2-40B4-BE49-F238E27FC236}">
                <a16:creationId xmlns:a16="http://schemas.microsoft.com/office/drawing/2014/main" id="{3F2DC722-50D7-4E6A-9BC6-761BB670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4476750" cy="29051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3FCF1"/>
          </a:solidFill>
          <a:ln xmlns:a="http://schemas.openxmlformats.org/drawingml/2006/main" w="9525">
            <a:solidFill>
              <a:srgbClr val="A8DE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AE9A4C-F496-4660-8192-1FC50783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684A"/>
                </a:solidFill>
              </a:defRPr>
            </a:pPr>
            <a:r>
              <a:rPr sz="1050" b="1" i="0">
                <a:solidFill>
                  <a:srgbClr val="00684A"/>
                </a:solidFill>
              </a:rPr>
              <a:t>SHORT-TERM MEMORY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138A40-9FD2-4287-B8A7-3538D56F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91050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D6C74"/>
                </a:solidFill>
              </a:defRPr>
            </a:pPr>
            <a:r>
              <a:rPr sz="1125" b="0" i="0">
                <a:solidFill>
                  <a:srgbClr val="5D6C74"/>
                </a:solidFill>
              </a:rPr>
              <a:t>Informação temporária para processamento ativo.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A5EC57-1F4C-44D9-9B2A-943AF3C6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768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FC66AD-5283-4F7B-8207-7500DF22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292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0">
            <a:solidFill>
              <a:srgbClr val="00ED6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B04481-AB7C-4284-8721-F01CA5E2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10150"/>
            <a:ext cx="3733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01E2B"/>
                </a:solidFill>
              </a:defRPr>
            </a:pPr>
            <a:r>
              <a:rPr sz="1425" b="1" i="0">
                <a:solidFill>
                  <a:srgbClr val="001E2B"/>
                </a:solidFill>
              </a:rPr>
              <a:t>Working Memory (Active Memory)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DD96D0-A418-418D-98B6-DC202FED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768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5D6C74"/>
                </a:solidFill>
              </a:defRPr>
            </a:pPr>
            <a:r>
              <a:rPr sz="1125" b="0" i="0">
                <a:solidFill>
                  <a:srgbClr val="5D6C74"/>
                </a:solidFill>
              </a:rPr>
              <a:t>Scratchpad da tarefa, histórico e estado da sessão.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A3420D-98BC-4233-AC2F-FC50687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524500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684A"/>
                </a:solidFill>
              </a:defRPr>
            </a:pPr>
            <a:r>
              <a:rPr sz="900" b="1" i="0">
                <a:solidFill>
                  <a:srgbClr val="00684A"/>
                </a:solidFill>
              </a:rPr>
              <a:t>agent_conversations · short_term_memory · TTL 24h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6651CA-653A-4FD7-85A5-3E3EAFBD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9775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EC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83E7B3-E3B3-4E5B-99AD-C8DB706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721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FF05"/>
          </a:solidFill>
          <a:ln xmlns:a="http://schemas.openxmlformats.org/drawingml/2006/main" w="0">
            <a:solidFill>
              <a:srgbClr val="B1FF0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C9A488-6BD0-4EDA-AF1C-E3AEBF65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953125"/>
            <a:ext cx="3733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01E2B"/>
                </a:solidFill>
              </a:defRPr>
            </a:pPr>
            <a:r>
              <a:rPr sz="1425" b="1" i="0">
                <a:solidFill>
                  <a:srgbClr val="001E2B"/>
                </a:solidFill>
              </a:rPr>
              <a:t>Semantic Cache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47BE4D-29C1-4211-AF35-405F168B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21982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5D6C74"/>
                </a:solidFill>
              </a:defRPr>
            </a:pPr>
            <a:r>
              <a:rPr sz="1125" b="0" i="0">
                <a:solidFill>
                  <a:srgbClr val="5D6C74"/>
                </a:solidFill>
              </a:rPr>
              <a:t>Prompt + resposta recuperados por similaridade semântica, evitando reprocessamento.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C5747E-970B-46C9-ADF9-652194A9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0684A"/>
                </a:solidFill>
              </a:defRPr>
            </a:pPr>
            <a:r>
              <a:rPr sz="825" b="1" i="0">
                <a:solidFill>
                  <a:srgbClr val="00684A"/>
                </a:solidFill>
              </a:rPr>
              <a:t>semantic_cache · voyage-4 · Vector Search · TTL 60m</a:t>
            </a:r>
          </a:p>
        </p:txBody>
      </p:sp>
      <p:sp>
        <p:nvSpPr>
          <p:cNvPr id="51" name="long-term-memory">
            <a:extLst xmlns:a="http://schemas.openxmlformats.org/drawingml/2006/main">
              <a:ext uri="{FF2B5EF4-FFF2-40B4-BE49-F238E27FC236}">
                <a16:creationId xmlns:a16="http://schemas.microsoft.com/office/drawing/2014/main" id="{37C522FD-5922-4E45-A94E-C06DBF0C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43375"/>
            <a:ext cx="4762500" cy="3429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DE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2CC72F-3AC5-4BAF-92AF-5923DC3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684A"/>
                </a:solidFill>
              </a:defRPr>
            </a:pPr>
            <a:r>
              <a:rPr sz="1050" b="1" i="0">
                <a:solidFill>
                  <a:srgbClr val="00684A"/>
                </a:solidFill>
              </a:rPr>
              <a:t>LONG-TERM MEMORY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284555-52B1-4A24-9000-3ABAD5ED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91050"/>
            <a:ext cx="428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D6C74"/>
                </a:solidFill>
              </a:defRPr>
            </a:pPr>
            <a:r>
              <a:rPr sz="1125" b="0" i="0">
                <a:solidFill>
                  <a:srgbClr val="5D6C74"/>
                </a:solidFill>
              </a:rPr>
              <a:t>Conhecimento persistente para continuidade e adaptação.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DCCA87-9EE3-4766-8DF6-6A389CF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768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F8A4C8-0E0F-439B-BAA2-B93FEEA6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19675"/>
            <a:ext cx="476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0">
            <a:solidFill>
              <a:srgbClr val="00ED6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C9AAB4-6314-4E68-A858-138AAB31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00625"/>
            <a:ext cx="411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01E2B"/>
                </a:solidFill>
              </a:defRPr>
            </a:pPr>
            <a:r>
              <a:rPr sz="1425" b="1" i="0">
                <a:solidFill>
                  <a:srgbClr val="001E2B"/>
                </a:solidFill>
              </a:rPr>
              <a:t>Episodic Memory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FF1881-3BBC-4441-A3B0-C83DB71F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67325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5D6C74"/>
                </a:solidFill>
              </a:defRPr>
            </a:pPr>
            <a:r>
              <a:rPr sz="1125" b="0" i="0">
                <a:solidFill>
                  <a:srgbClr val="5D6C74"/>
                </a:solidFill>
              </a:rPr>
              <a:t>Eventos e interações específicas com timestamp.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43C445-2076-41B1-9BF5-EC4111B8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86400"/>
            <a:ext cx="411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0684A"/>
                </a:solidFill>
              </a:defRPr>
            </a:pPr>
            <a:r>
              <a:rPr sz="825" b="1" i="0">
                <a:solidFill>
                  <a:srgbClr val="00684A"/>
                </a:solidFill>
              </a:rPr>
              <a:t>agent_traces · agent_handoffs · tickets · redemptions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D9F59B-F554-44D4-A207-70DEF51B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6262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D85B23-8DD0-4582-8EC6-4CD58688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86450"/>
            <a:ext cx="476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0">
            <a:solidFill>
              <a:srgbClr val="00ED6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130F52-6B3E-4868-B0BC-8B6CAA1D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67400"/>
            <a:ext cx="411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01E2B"/>
                </a:solidFill>
              </a:defRPr>
            </a:pPr>
            <a:r>
              <a:rPr sz="1425" b="1" i="0">
                <a:solidFill>
                  <a:srgbClr val="001E2B"/>
                </a:solidFill>
              </a:rPr>
              <a:t>Semantic Memory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25480C-8B46-483E-B2DA-9257CF69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134100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5D6C74"/>
                </a:solidFill>
              </a:defRPr>
            </a:pPr>
            <a:r>
              <a:rPr sz="1125" b="0" i="0">
                <a:solidFill>
                  <a:srgbClr val="5D6C74"/>
                </a:solidFill>
              </a:rPr>
              <a:t>Knowledge Base, Entity Memory e Persona Memory.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1EE195-4C2E-4691-BF75-DD0BFA0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505575"/>
            <a:ext cx="411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00684A"/>
                </a:solidFill>
              </a:defRPr>
            </a:pPr>
            <a:r>
              <a:rPr sz="675" b="1" i="0">
                <a:solidFill>
                  <a:srgbClr val="00684A"/>
                </a:solidFill>
              </a:rPr>
              <a:t>long_term_memory* · customer_memory · kb_articles · products_catalog · agent_registry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4D0B36-4B83-4D1C-8280-E1886C3E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77227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0493EC-A750-48C4-8668-B1E84B1A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8770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FF05"/>
          </a:solidFill>
          <a:ln xmlns:a="http://schemas.openxmlformats.org/drawingml/2006/main" w="0">
            <a:solidFill>
              <a:srgbClr val="B1FF0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65B880-73B2-4881-955B-747BCBA8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858000"/>
            <a:ext cx="411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01E2B"/>
                </a:solidFill>
              </a:defRPr>
            </a:pPr>
            <a:r>
              <a:rPr sz="1425" b="1" i="0">
                <a:solidFill>
                  <a:srgbClr val="001E2B"/>
                </a:solidFill>
              </a:rPr>
              <a:t>Procedural Memory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883AA6-113B-4E0C-AAD6-E789C2DE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143750"/>
            <a:ext cx="411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684A"/>
                </a:solidFill>
              </a:defRPr>
            </a:pPr>
            <a:r>
              <a:rPr sz="750" b="1" i="0">
                <a:solidFill>
                  <a:srgbClr val="00684A"/>
                </a:solidFill>
              </a:rPr>
              <a:t>routing_rules · guardrail_policies · tools · budgets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02BFBFA-2AD2-45C7-A710-BBEA4FFC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400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1E2B"/>
                </a:solidFill>
              </a:defRPr>
            </a:pPr>
            <a:r>
              <a:rPr sz="1050" b="1" i="0">
                <a:solidFill>
                  <a:srgbClr val="001E2B"/>
                </a:solidFill>
              </a:rPr>
              <a:t>Associative Memory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BE182F-2D1D-4B33-9507-352551BE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74199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1">
                <a:solidFill>
                  <a:srgbClr val="5D6C74"/>
                </a:solidFill>
              </a:defRPr>
            </a:pPr>
            <a:r>
              <a:rPr sz="750" b="0" i="1">
                <a:solidFill>
                  <a:srgbClr val="5D6C74"/>
                </a:solidFill>
              </a:rPr>
              <a:t>próxima evolução: relationships / graph traversal</a:t>
            </a:r>
          </a:p>
        </p:txBody>
      </p:sp>
      <p:sp>
        <p:nvSpPr>
          <p:cNvPr id="70" name="shared-memory">
            <a:extLst xmlns:a="http://schemas.openxmlformats.org/drawingml/2006/main">
              <a:ext uri="{FF2B5EF4-FFF2-40B4-BE49-F238E27FC236}">
                <a16:creationId xmlns:a16="http://schemas.microsoft.com/office/drawing/2014/main" id="{DA5DC427-6D98-4267-810B-9538D6E8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715250"/>
            <a:ext cx="9477375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01E2B"/>
          </a:solidFill>
          <a:ln xmlns:a="http://schemas.openxmlformats.org/drawingml/2006/main" w="0">
            <a:solidFill>
              <a:srgbClr val="001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91500B-454E-4180-85C4-E0FD4439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7867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ED64"/>
                </a:solidFill>
              </a:defRPr>
            </a:pPr>
            <a:r>
              <a:rPr sz="1050" b="1" i="0">
                <a:solidFill>
                  <a:srgbClr val="00ED64"/>
                </a:solidFill>
              </a:rPr>
              <a:t>SHARED MEMORY · CAMADA TRANSVERSAL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558DCF8-1537-4FEC-B8B9-204DC75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115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Workspace comum para coordenação multi-agent; pode ser curto ou longo prazo.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F4C86E-BD8C-49EF-B00C-74BADA8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867650"/>
            <a:ext cx="3048000" cy="2476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0D3340"/>
          </a:solidFill>
          <a:ln xmlns:a="http://schemas.openxmlformats.org/drawingml/2006/main" w="9525">
            <a:solidFill>
              <a:srgbClr val="3156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ED64"/>
                </a:solidFill>
              </a:defRPr>
            </a:pPr>
            <a:r>
              <a:rPr sz="825" b="1">
                <a:solidFill>
                  <a:srgbClr val="00ED64"/>
                </a:solidFill>
              </a:rPr>
              <a:t>ai_brain · persona + procedural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FE9DB0-D030-4378-BAF5-0EC77FDE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172450"/>
            <a:ext cx="3048000" cy="2476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0D3340"/>
          </a:solidFill>
          <a:ln xmlns:a="http://schemas.openxmlformats.org/drawingml/2006/main" w="9525">
            <a:solidFill>
              <a:srgbClr val="3156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ED64"/>
                </a:solidFill>
              </a:defRPr>
            </a:pPr>
            <a:r>
              <a:rPr sz="750" b="1">
                <a:solidFill>
                  <a:srgbClr val="00ED64"/>
                </a:solidFill>
              </a:rPr>
              <a:t>multi_agent_poc · context + state + events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25DB30F-8923-4136-9FAC-DE29F9FA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391525"/>
            <a:ext cx="571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B1FF05"/>
                </a:solidFill>
              </a:defRPr>
            </a:pPr>
            <a:r>
              <a:rPr sz="750" b="0" i="0">
                <a:solidFill>
                  <a:srgbClr val="B1FF05"/>
                </a:solidFill>
              </a:rPr>
              <a:t>Collections não se chamam: o orquestrador encadeia por customer_key · conversation_id · agent · area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906C042-7912-431F-A05E-CD1AD09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8705850"/>
            <a:ext cx="938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1">
                <a:solidFill>
                  <a:srgbClr val="5D6C74"/>
                </a:solidFill>
              </a:defRPr>
            </a:pPr>
            <a:r>
              <a:rPr sz="900" b="0" i="1">
                <a:solidFill>
                  <a:srgbClr val="5D6C74"/>
                </a:solidFill>
              </a:rPr>
              <a:t>* long_term_memory: retrieval vetorial pronto; ingestão/consolidação automática ainda é evolução.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B16BADD-EEA6-499F-AE72-E77AA272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781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684A"/>
                </a:solidFill>
              </a:defRPr>
            </a:pPr>
            <a:r>
              <a:rPr sz="1050" b="1" i="0">
                <a:solidFill>
                  <a:srgbClr val="00684A"/>
                </a:solidFill>
              </a:rPr>
              <a:t>MEMORY ENGINEERING STACK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3D2A88-4037-43B9-BBD3-E42DE678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105150"/>
            <a:ext cx="342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0" i="0">
                <a:solidFill>
                  <a:srgbClr val="001E2B"/>
                </a:solidFill>
              </a:defRPr>
            </a:pPr>
            <a:r>
              <a:rPr sz="2025" b="0" i="0">
                <a:solidFill>
                  <a:srgbClr val="001E2B"/>
                </a:solidFill>
              </a:rPr>
              <a:t>Armazene uma vez.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 i="0">
                <a:solidFill>
                  <a:srgbClr val="001E2B"/>
                </a:solidFill>
              </a:defRPr>
            </a:pPr>
            <a:r>
              <a:rPr sz="2025" b="0" i="0">
                <a:solidFill>
                  <a:srgbClr val="001E2B"/>
                </a:solidFill>
              </a:rPr>
              <a:t>Recupere por significado.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0A3B007-630B-4C68-A299-8B153379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095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9525">
            <a:solidFill>
              <a:srgbClr val="06162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ACCE985-F474-495F-B847-C37F231E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162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1E2B"/>
                </a:solidFill>
              </a:defRPr>
            </a:pPr>
            <a:r>
              <a:rPr sz="900" b="1" i="0">
                <a:solidFill>
                  <a:srgbClr val="001E2B"/>
                </a:solidFill>
              </a:rPr>
              <a:t>01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03B753-C165-43CC-AF29-32A584EA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086225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1E2B"/>
                </a:solidFill>
              </a:defRPr>
            </a:pPr>
            <a:r>
              <a:rPr sz="1275" b="1" i="0">
                <a:solidFill>
                  <a:srgbClr val="001E2B"/>
                </a:solidFill>
              </a:rPr>
              <a:t>Document model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33819D0-87C5-47C9-8797-557C41D3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2957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memory units + metadata + relationships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C20E6A9-99D7-45AD-BF71-8D14D616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657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FF05"/>
          </a:solidFill>
          <a:ln xmlns:a="http://schemas.openxmlformats.org/drawingml/2006/main" w="9525">
            <a:solidFill>
              <a:srgbClr val="061621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0130A00-9225-40C3-BFEF-B7CBD504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724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1E2B"/>
                </a:solidFill>
              </a:defRPr>
            </a:pPr>
            <a:r>
              <a:rPr sz="900" b="1" i="0">
                <a:solidFill>
                  <a:srgbClr val="001E2B"/>
                </a:solidFill>
              </a:rPr>
              <a:t>02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F056E7E-8323-4812-B5BA-B9529888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64820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1E2B"/>
                </a:solidFill>
              </a:defRPr>
            </a:pPr>
            <a:r>
              <a:rPr sz="1275" b="1" i="0">
                <a:solidFill>
                  <a:srgbClr val="001E2B"/>
                </a:solidFill>
              </a:rPr>
              <a:t>Automated Embedding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207CD5-F098-493F-88B9-B686F7D6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85775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Voyage-4 sem pipeline externo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8EA5516-3A59-4ED8-9CE7-86600DE6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219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9525">
            <a:solidFill>
              <a:srgbClr val="06162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603DDA3-9DC6-4ADE-9DF5-3470F020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2863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1E2B"/>
                </a:solidFill>
              </a:defRPr>
            </a:pPr>
            <a:r>
              <a:rPr sz="900" b="1" i="0">
                <a:solidFill>
                  <a:srgbClr val="001E2B"/>
                </a:solidFill>
              </a:rPr>
              <a:t>03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372B517-5ECD-4504-B05B-B597C938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5210175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1E2B"/>
                </a:solidFill>
              </a:defRPr>
            </a:pPr>
            <a:r>
              <a:rPr sz="1275" b="1" i="0">
                <a:solidFill>
                  <a:srgbClr val="001E2B"/>
                </a:solidFill>
              </a:rPr>
              <a:t>Atlas Vector Search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7E3C287-AC5B-479A-87EC-AC80C9CF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54197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similaridade semântica + filtros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0B708D-0D3A-4DA2-B4A7-139B8F8D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781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9525">
            <a:solidFill>
              <a:srgbClr val="06162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1C60D3C-39B6-4481-B304-5817771D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848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1E2B"/>
                </a:solidFill>
              </a:defRPr>
            </a:pPr>
            <a:r>
              <a:rPr sz="900" b="1" i="0">
                <a:solidFill>
                  <a:srgbClr val="001E2B"/>
                </a:solidFill>
              </a:rPr>
              <a:t>04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145044B-63F1-416C-A610-5DE97DB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57721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1E2B"/>
                </a:solidFill>
              </a:defRPr>
            </a:pPr>
            <a:r>
              <a:rPr sz="1275" b="1" i="0">
                <a:solidFill>
                  <a:srgbClr val="001E2B"/>
                </a:solidFill>
              </a:rPr>
              <a:t>Atlas Search + RRF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8FF110E-9B88-4949-9CD9-DEB5D03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59817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BM25 preserva termos exatos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8D64947-B2A8-49B6-B652-B0D6ECB6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343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9525">
            <a:solidFill>
              <a:srgbClr val="06162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E416329-0DFB-4FDC-ADB1-08D81C8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4103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1E2B"/>
                </a:solidFill>
              </a:defRPr>
            </a:pPr>
            <a:r>
              <a:rPr sz="900" b="1" i="0">
                <a:solidFill>
                  <a:srgbClr val="001E2B"/>
                </a:solidFill>
              </a:rPr>
              <a:t>05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1802EB2-46B8-4F09-B8C5-43BF583B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334125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1E2B"/>
                </a:solidFill>
              </a:defRPr>
            </a:pPr>
            <a:r>
              <a:rPr sz="1275" b="1" i="0">
                <a:solidFill>
                  <a:srgbClr val="001E2B"/>
                </a:solidFill>
              </a:rPr>
              <a:t>TTL Indexes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1D0AB2-A40B-4E13-B7C6-E3F86CE5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5436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lifecycle de 60m, 24h, 30d e 90d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0C3AB8C-B8E7-4088-A0BC-6971979D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905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9525">
            <a:solidFill>
              <a:srgbClr val="061621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1685878-735D-4303-B8B9-41A3D034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972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1E2B"/>
                </a:solidFill>
              </a:defRPr>
            </a:pPr>
            <a:r>
              <a:rPr sz="900" b="1" i="0">
                <a:solidFill>
                  <a:srgbClr val="001E2B"/>
                </a:solidFill>
              </a:rPr>
              <a:t>06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27604C0-E5F2-4038-8662-8D25E41C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89610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1E2B"/>
                </a:solidFill>
              </a:defRPr>
            </a:pPr>
            <a:r>
              <a:rPr sz="1275" b="1" i="0">
                <a:solidFill>
                  <a:srgbClr val="001E2B"/>
                </a:solidFill>
              </a:rPr>
              <a:t>Change Streams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691A86C-B945-4315-AA50-C9EFFE1C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710565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handoffs observáveis em tempo real</a:t>
            </a:r>
          </a:p>
        </p:txBody>
      </p:sp>
      <p:sp>
        <p:nvSpPr>
          <p:cNvPr id="103" name="recall-code">
            <a:extLst xmlns:a="http://schemas.openxmlformats.org/drawingml/2006/main">
              <a:ext uri="{FF2B5EF4-FFF2-40B4-BE49-F238E27FC236}">
                <a16:creationId xmlns:a16="http://schemas.microsoft.com/office/drawing/2014/main" id="{40E6A09B-CB5F-4F28-8C24-40B8D1C1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600950"/>
            <a:ext cx="3429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61621"/>
          </a:solidFill>
          <a:ln xmlns:a="http://schemas.openxmlformats.org/drawingml/2006/main" w="9525">
            <a:solidFill>
              <a:srgbClr val="3156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DF1D40-3949-4F61-B8AC-28A81048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7772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ED64"/>
                </a:solidFill>
              </a:defRPr>
            </a:pPr>
            <a:r>
              <a:rPr sz="1050" b="1" i="0">
                <a:solidFill>
                  <a:srgbClr val="00ED64"/>
                </a:solidFill>
              </a:rPr>
              <a:t>recall()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058C2F0-312B-4C28-9C6F-FB136123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02005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working → cache → long_term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vector + lexical + tenant filters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B9FE404-F158-4C56-B18B-97718EFA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91600"/>
            <a:ext cx="1724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C90821A-9DEB-49DB-BB67-872D3D66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15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E2B"/>
          </a:solidFill>
          <a:ln xmlns:a="http://schemas.openxmlformats.org/drawingml/2006/main" w="0">
            <a:solidFill>
              <a:srgbClr val="001E2B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E407297-5607-4E48-B855-ED4E0199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29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ED64"/>
                </a:solidFill>
              </a:defRPr>
            </a:pPr>
            <a:r>
              <a:rPr sz="975" b="1" i="0">
                <a:solidFill>
                  <a:srgbClr val="00ED64"/>
                </a:solidFill>
              </a:rPr>
              <a:t>01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E9BBD37-3FCB-4868-A97D-9679EED2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115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1E2B"/>
                </a:solidFill>
              </a:defRPr>
            </a:pPr>
            <a:r>
              <a:rPr sz="1350" b="1" i="0">
                <a:solidFill>
                  <a:srgbClr val="001E2B"/>
                </a:solidFill>
              </a:rPr>
              <a:t>Continuidade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9DFB92-AC90-426A-9AA3-BB96C93E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3630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entre sessões e agentes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9010FBF-AFE9-418F-B37A-728763A0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9115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E2B"/>
          </a:solidFill>
          <a:ln xmlns:a="http://schemas.openxmlformats.org/drawingml/2006/main" w="0">
            <a:solidFill>
              <a:srgbClr val="001E2B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4C39E34-1147-4B85-8CE7-B983EF01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9229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ED64"/>
                </a:solidFill>
              </a:defRPr>
            </a:pPr>
            <a:r>
              <a:rPr sz="975" b="1" i="0">
                <a:solidFill>
                  <a:srgbClr val="00ED64"/>
                </a:solidFill>
              </a:rPr>
              <a:t>02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EE162D3-DA5C-4224-A060-A57930E2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9115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1E2B"/>
                </a:solidFill>
              </a:defRPr>
            </a:pPr>
            <a:r>
              <a:rPr sz="1350" b="1" i="0">
                <a:solidFill>
                  <a:srgbClr val="001E2B"/>
                </a:solidFill>
              </a:rPr>
              <a:t>Personalização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9BA8F9-3D1D-494B-A069-DFB3B0E0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93630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Entity Memory evolutiva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9CD9120-051F-40F0-B7B5-AB9F4167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115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E2B"/>
          </a:solidFill>
          <a:ln xmlns:a="http://schemas.openxmlformats.org/drawingml/2006/main" w="0">
            <a:solidFill>
              <a:srgbClr val="001E2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1B4923D-F049-4A82-BFEC-107624A8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229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ED64"/>
                </a:solidFill>
              </a:defRPr>
            </a:pPr>
            <a:r>
              <a:rPr sz="975" b="1" i="0">
                <a:solidFill>
                  <a:srgbClr val="00ED64"/>
                </a:solidFill>
              </a:rPr>
              <a:t>03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6442E87-088B-4563-9225-BD27EBAB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9115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1E2B"/>
                </a:solidFill>
              </a:defRPr>
            </a:pPr>
            <a:r>
              <a:rPr sz="1350" b="1" i="0">
                <a:solidFill>
                  <a:srgbClr val="001E2B"/>
                </a:solidFill>
              </a:rPr>
              <a:t>Menor custo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99388C0-8755-43FA-8954-EB6121E0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93630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cache antes do LLM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ACDF88C-7EAE-496C-A19B-A3E88201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9115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E2B"/>
          </a:solidFill>
          <a:ln xmlns:a="http://schemas.openxmlformats.org/drawingml/2006/main" w="0">
            <a:solidFill>
              <a:srgbClr val="001E2B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23BD2FA-2D05-449C-A7A3-E16BB0A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9229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ED64"/>
                </a:solidFill>
              </a:defRPr>
            </a:pPr>
            <a:r>
              <a:rPr sz="975" b="1" i="0">
                <a:solidFill>
                  <a:srgbClr val="00ED64"/>
                </a:solidFill>
              </a:rPr>
              <a:t>04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7271C6-983E-4276-9390-536E8BC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9115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1E2B"/>
                </a:solidFill>
              </a:defRPr>
            </a:pPr>
            <a:r>
              <a:rPr sz="1350" b="1" i="0">
                <a:solidFill>
                  <a:srgbClr val="001E2B"/>
                </a:solidFill>
              </a:rPr>
              <a:t>Coordenação auditável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42180AA-EC79-4F90-9033-BFCB5B93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93630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D6C74"/>
                </a:solidFill>
              </a:defRPr>
            </a:pPr>
            <a:r>
              <a:rPr sz="1050" b="0" i="0">
                <a:solidFill>
                  <a:srgbClr val="5D6C74"/>
                </a:solidFill>
              </a:rPr>
              <a:t>Shared Memory + Change Streams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F5EBED4-DDF8-41B0-887C-DFC462BE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9536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MongoDB × Voyage AI  |  Agent Memory Architecture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7A93792-8CE2-4D36-B919-5E837736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53625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B8C9C4"/>
                </a:solidFill>
              </a:defRPr>
            </a:pPr>
            <a:r>
              <a:rPr sz="750" b="0" i="0">
                <a:solidFill>
                  <a:srgbClr val="B8C9C4"/>
                </a:solidFill>
              </a:rPr>
              <a:t>Referência: mongodb.com/resources/basics/artificial-intelligence/agent-memory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70B27AB-97EF-47DB-B789-C7018AC5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99250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0ED64"/>
                </a:solidFill>
              </a:defRPr>
            </a:pPr>
            <a:r>
              <a:rPr sz="1275" b="1" i="0">
                <a:solidFill>
                  <a:srgbClr val="00ED64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3152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2026-07-17T19:39:46.1960000Z</dcterms:created>
  <dcterms:modified xsi:type="dcterms:W3CDTF">2026-07-17T19:39:46.1960000Z</dcterms:modified>
</coreProperties>
</file>